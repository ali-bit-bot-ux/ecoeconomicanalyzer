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7772400" cy="7772400"/>
          </a:xfrm>
          <a:prstGeom prst="ellipse">
            <a:avLst/>
          </a:prstGeom>
          <a:noFill/>
          <a:ln w="1905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457200"/>
            <a:ext cx="5943600" cy="5943600"/>
          </a:xfrm>
          <a:prstGeom prst="ellipse">
            <a:avLst/>
          </a:prstGeom>
          <a:noFill/>
          <a:ln w="1270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822960"/>
            <a:ext cx="4754880" cy="384048"/>
          </a:xfrm>
          <a:prstGeom prst="round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СЕКЦИЯ: ЖЕР ЖӘНЕ ҒАРЫШ ТУРАЛЫ ҒЫЛЫМДАР. АСТРОНОМИЯ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5000">
                <a:solidFill>
                  <a:srgbClr val="F97316"/>
                </a:solidFill>
                <a:latin typeface="Segoe UI"/>
              </a:rPr>
              <a:t>AgriCascade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0120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300">
                <a:solidFill>
                  <a:srgbClr val="FFFFFF"/>
                </a:solidFill>
                <a:latin typeface="Segoe UI"/>
              </a:rPr>
              <a:t>Ғарыштық радарлық-оптикалық зондтау және эконометрика негізінде агро-тәуекелдерді ерте болжау жүйесі</a:t>
            </a:r>
          </a:p>
          <a:p>
            <a:pPr>
              <a:spcBef>
                <a:spcPts val="800"/>
              </a:spcBef>
            </a:pPr>
            <a:r>
              <a:rPr i="1" sz="1300">
                <a:solidFill>
                  <a:srgbClr val="94A3B8"/>
                </a:solidFill>
                <a:latin typeface="Segoe UI"/>
              </a:rPr>
              <a:t>Early Agro-Risk Forecasting System based on Space Radar-Optical Sensing and Econometrics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4846320" cy="17373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ЖОБА ОРЫНДАУШЫЛАРЫ: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</a:rPr>
              <a:t>• Кәрімбай Әли (Karimbay Ali)
• Төлебай Рамазан (Tolebay Ramazan)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4846320" cy="17373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348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97316"/>
                </a:solidFill>
              </a:rPr>
              <a:t>ҒЫЛЫМИ ЖЕТЕКШІ: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• Искакова Айжан (Искакова А.)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</a:rPr>
              <a:t>Ғылыми кеңесші &amp; Жоба кураторы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МӘСЕЛЕНІҢ ӨЗЕКТІЛІГІ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Ғарыштық зондтаудың өзекті мәселелері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Дәстүрлі агро-мониторингтің шектеулері мен климаттық қауіп-қатерлер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73152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FFFFFF"/>
                </a:solidFill>
              </a:rPr>
              <a:t>Оптика шектеуі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97316"/>
                </a:solidFill>
              </a:rPr>
              <a:t>Бұлттылық және кеш тіркеу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65760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2779776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50">
                <a:solidFill>
                  <a:srgbClr val="E2E8F0"/>
                </a:solidFill>
                <a:latin typeface="Segoe UI"/>
              </a:rPr>
              <a:t>Дәстүрлі оптикалық спутниктер (Sentinel-2) бұлтты күндері жер бетін көре алмайды. Сонымен қатар, оптика өсімдіктің вегетациялық бұзылуын тек кеш кезеңде (жапырақтары сарғайып, зақымданғанда ғана) тіркейді.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011680"/>
            <a:ext cx="73152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6032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FFFFFF"/>
                </a:solidFill>
              </a:rPr>
              <a:t>Тамыр тереңдігі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38BDF8"/>
                </a:solidFill>
              </a:rPr>
              <a:t>NDVI тек жапырақ бетін көреді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0872" y="365760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794760"/>
            <a:ext cx="2779776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50">
                <a:solidFill>
                  <a:srgbClr val="E2E8F0"/>
                </a:solidFill>
                <a:latin typeface="Segoe UI"/>
              </a:rPr>
              <a:t>Оптикалық спектрлік индекстер тек дақылдың үстіңгі қабатын сканерлейді. Топырақтың тамыр тереңдігіндегі (root-zone) ылғал тапшылығын көре алмайды, салдарынан фермерлер ерте әрекет ету мүмкіндігінен айырылады.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2011680"/>
            <a:ext cx="73152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56032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FFFFFF"/>
                </a:solidFill>
              </a:rPr>
              <a:t>Климаттық қауіп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43F5E"/>
                </a:solidFill>
              </a:rPr>
              <a:t>Аномалиялар мен баға шоктары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365760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794760"/>
            <a:ext cx="2779776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50">
                <a:solidFill>
                  <a:srgbClr val="E2E8F0"/>
                </a:solidFill>
                <a:latin typeface="Segoe UI"/>
              </a:rPr>
              <a:t>Климаттың құбылуы мен экстремалды құрғақшылықты уақытылы анықтамау өңірлік астық көлемінің күрт төмендеуіне, логистикалық инфрақұрылым тоқырауына және биржада баға шоктарына алып келеді.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НЕГІЗГІ ЕРЕКШЕЛІКТЕР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Ғарыштық мультиспектрлік синтез (Space Data Fusion)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Оптикалық, радарлық және микротолқынды зондтауды біріктіру арқылы ерте болжау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2779776" cy="32004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01 // РАДАРЛЫҚ ЗОНДТАУ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100">
                <a:solidFill>
                  <a:srgbClr val="FFFFFF"/>
                </a:solidFill>
              </a:rPr>
              <a:t>C-band Радиолокация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38BDF8"/>
                </a:solidFill>
              </a:rPr>
              <a:t>Sentinel-1 (SAR) — 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79776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Радиолокациялық кері шашырау (backscatter) арқылы бұлттылық пен кез келген ауа райына қарамастан, тәуліктің кез келген мезгілінде топырақ беті мен өсімдік діңінің ылғалдылығын дәл тіркейді.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46320"/>
            <a:ext cx="2779776" cy="868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2779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38BDF8"/>
                </a:solidFill>
              </a:rPr>
              <a:t>24/7</a:t>
            </a:r>
          </a:p>
          <a:p>
            <a:pPr algn="ctr"/>
            <a:r>
              <a:rPr sz="1050">
                <a:solidFill>
                  <a:srgbClr val="94A3B8"/>
                </a:solidFill>
              </a:rPr>
              <a:t>Ауа райына тәуелсіз бақылау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2011680"/>
            <a:ext cx="2779776" cy="32004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A855F7"/>
                </a:solidFill>
                <a:latin typeface="Segoe UI"/>
              </a:rPr>
              <a:t>02 // РАДИОМЕТРИЯ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46888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100">
                <a:solidFill>
                  <a:srgbClr val="FFFFFF"/>
                </a:solidFill>
              </a:rPr>
              <a:t>L-band Радиометрия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A855F7"/>
                </a:solidFill>
              </a:rPr>
              <a:t>NASA SMAP Спутнигі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474720"/>
            <a:ext cx="2779776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Микротолқынды радиометрия көмегімен жер асты тереңдігіне бойлап, өсімдік тамыр жүйесіндегі (Root-zone Soil Moisture) су қоры мен ылғал тапшылығы динамикасын тіркейді.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0872" y="4846320"/>
            <a:ext cx="2779776" cy="868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4846320"/>
            <a:ext cx="2779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A855F7"/>
                </a:solidFill>
              </a:rPr>
              <a:t>0-100 см</a:t>
            </a:r>
          </a:p>
          <a:p>
            <a:pPr algn="ctr"/>
            <a:r>
              <a:rPr sz="1050">
                <a:solidFill>
                  <a:srgbClr val="94A3B8"/>
                </a:solidFill>
              </a:rPr>
              <a:t>Тамыр тереңдігіндегі ылғал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691640"/>
            <a:ext cx="3328416" cy="4297680"/>
          </a:xfrm>
          <a:prstGeom prst="roundRect">
            <a:avLst/>
          </a:prstGeom>
          <a:solidFill>
            <a:srgbClr val="1E192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2011680"/>
            <a:ext cx="2779776" cy="32004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F97316"/>
                </a:solidFill>
                <a:latin typeface="Segoe UI"/>
              </a:rPr>
              <a:t>03 // НЕГІЗГІ БАСЫМДЫҚ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68880"/>
            <a:ext cx="2779776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100">
                <a:solidFill>
                  <a:srgbClr val="FFFFFF"/>
                </a:solidFill>
              </a:rPr>
              <a:t>Ақпараттық басымдық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97316"/>
                </a:solidFill>
              </a:rPr>
              <a:t>Ерте ескерту жүйесі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474720"/>
            <a:ext cx="2779776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00">
                <a:solidFill>
                  <a:srgbClr val="E2E8F0"/>
                </a:solidFill>
              </a:rPr>
              <a:t>Дәстүрлі оптикалық сарғаю (NDVI төмендеуі) көзге көрінгенге дейін тамырлық ылғал тапшылығын алдын ала анықтап, шешім қабылдауға құнды уақыт береді.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4846320"/>
            <a:ext cx="2779776" cy="868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846320"/>
            <a:ext cx="2779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800">
                <a:solidFill>
                  <a:srgbClr val="F97316"/>
                </a:solidFill>
              </a:rPr>
              <a:t>+27 КҮН</a:t>
            </a:r>
          </a:p>
          <a:p>
            <a:pPr algn="ctr"/>
            <a:r>
              <a:rPr sz="1050">
                <a:solidFill>
                  <a:srgbClr val="94A3B8"/>
                </a:solidFill>
              </a:rPr>
              <a:t>Оптикалық белгіден бұрын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ТЕХНОЛОГИЯЛЫҚ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AgriCascade Tech Stack &amp; Data Pipeline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Орбиталық деректерді өңдеуден бастап эконометрикалық болжау мен ГИС-интерфейске дейін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2779776" cy="292608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ҒАРЫШТЫҚ ДЕРЕКТЕР ҚҰБЫРЫ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779776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38BDF8"/>
                </a:solidFill>
              </a:rPr>
              <a:t>01. </a:t>
            </a:r>
            <a:r>
              <a:rPr b="1" sz="2000">
                <a:solidFill>
                  <a:srgbClr val="FFFFFF"/>
                </a:solidFill>
              </a:rPr>
              <a:t>Orbital Data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050">
                <a:solidFill>
                  <a:srgbClr val="94A3B8"/>
                </a:solidFill>
              </a:rPr>
              <a:t>ҚОЛДАНЫЛҒАН ҚҰРАЛДАР: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Google Earth Engine (GEE API)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Copernicus Sentinel-1 (SAR)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NASA SMAP Radiometer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Sentinel-2 MSI (Optics)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983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2779776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Радарлық және микротолқынды ғарыштық деректерді жергілікті климаттық торға автоматты калибрлеу, сүзу және интеграциялау.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2011680"/>
            <a:ext cx="2779776" cy="292608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F97316"/>
                </a:solidFill>
                <a:latin typeface="Segoe UI"/>
              </a:rPr>
              <a:t>ЭКОНОМЕТРИКА ЖӘНЕ ТАЛДАУ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423160"/>
            <a:ext cx="2779776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F97316"/>
                </a:solidFill>
              </a:rPr>
              <a:t>02. </a:t>
            </a:r>
            <a:r>
              <a:rPr b="1" sz="2000">
                <a:solidFill>
                  <a:srgbClr val="FFFFFF"/>
                </a:solidFill>
              </a:rPr>
              <a:t>Geo-Econometrics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29184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050">
                <a:solidFill>
                  <a:srgbClr val="94A3B8"/>
                </a:solidFill>
              </a:rPr>
              <a:t>ҚОЛДАНЫЛҒАН ҚҰРАЛДАР: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Python 3.11+ / Pandas / NumPy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Statsmodels &amp; SciPy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Vector Autoregression (VAR)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Granger Causality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4983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5120640"/>
            <a:ext cx="2779776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Спутниктік аномалиялар мен баға шоктары арасындағы себеп-салдарлық байланысты дәлелдеу және бағаны модельдеу.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5904" y="2011680"/>
            <a:ext cx="2779776" cy="292608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10B981"/>
                </a:solidFill>
                <a:latin typeface="Segoe UI"/>
              </a:rPr>
              <a:t>ИНТЕРАКТИВТІ КАРТОГРАФИЯ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23160"/>
            <a:ext cx="2779776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2000">
                <a:solidFill>
                  <a:srgbClr val="10B981"/>
                </a:solidFill>
              </a:rPr>
              <a:t>03. </a:t>
            </a:r>
            <a:r>
              <a:rPr b="1" sz="2000">
                <a:solidFill>
                  <a:srgbClr val="FFFFFF"/>
                </a:solidFill>
              </a:rPr>
              <a:t>GIS &amp;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29184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050">
                <a:solidFill>
                  <a:srgbClr val="94A3B8"/>
                </a:solidFill>
              </a:rPr>
              <a:t>ҚОЛДАНЫЛҒАН ҚҰРАЛДАР: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Streamlit Web Framework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Folium / Leaflet Geovisualization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OSMnx Road &amp; Railway Graphs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FFFF"/>
                </a:solidFill>
              </a:rPr>
              <a:t>✔ 207 Элеватор Бағыттары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5904" y="4983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5120640"/>
            <a:ext cx="2779776" cy="777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Қазақстанның астық логистикасы мен элеватор инфрақұрылымын көрсететін интерактивті карталар мен басқару панелі.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ПЛАТФОРМА ФУНКЦИЯЛАРЫ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Интерактивті ГИС-Дашборд модульдері (Live Platform)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Шешім қабылдауға арналған 4 негізгі талдау және мониторинг сервисі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75504" cy="2057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5943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56232"/>
            <a:ext cx="3986784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PhenoMap</a:t>
            </a:r>
          </a:p>
          <a:p>
            <a:r>
              <a:rPr sz="1100" b="1">
                <a:solidFill>
                  <a:srgbClr val="10B981"/>
                </a:solidFill>
              </a:rPr>
              <a:t>Оптикалық вегетациялық мониторинг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18304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50">
                <a:solidFill>
                  <a:srgbClr val="E2E8F0"/>
                </a:solidFill>
              </a:rPr>
              <a:t>Sentinel-2 спутнигінің оптикалық спектрлік индекстерінің (NDVI/NDWI) геокеңістіктік динамикасы. Өсімдік жамылғысының биомассасы мен ылғал индексін нақты уақытта бақылау.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91640"/>
            <a:ext cx="5175504" cy="2057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1384" y="1920240"/>
            <a:ext cx="59436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856232"/>
            <a:ext cx="3986784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HydroRisk</a:t>
            </a:r>
          </a:p>
          <a:p>
            <a:r>
              <a:rPr sz="1100" b="1">
                <a:solidFill>
                  <a:srgbClr val="38BDF8"/>
                </a:solidFill>
              </a:rPr>
              <a:t>Радарлық тамыр ылғалдылық картасы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560320"/>
            <a:ext cx="4718304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50">
                <a:solidFill>
                  <a:srgbClr val="E2E8F0"/>
                </a:solidFill>
              </a:rPr>
              <a:t>Sentinel-1 SAR және NASA SMAP радарлық-радиометриялық деректері негізінде топырақтың тамыр деңгейіндегі су балансы мен гидрологиялық күйзеліс аймақтарын анықтау.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75504" cy="2057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251960"/>
            <a:ext cx="59436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87952"/>
            <a:ext cx="3986784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SiloSentry</a:t>
            </a:r>
          </a:p>
          <a:p>
            <a:r>
              <a:rPr sz="1100" b="1">
                <a:solidFill>
                  <a:srgbClr val="F97316"/>
                </a:solidFill>
              </a:rPr>
              <a:t>Элеваторлар инфрақұрылымы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4718304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50">
                <a:solidFill>
                  <a:srgbClr val="E2E8F0"/>
                </a:solidFill>
              </a:rPr>
              <a:t>Қазақстан бойынша 207 элеватордың кеңістіктік координаттары, логистикалық маршруттары (OSMnx) және астық сақтау сыйымдылығының кешенді желілік моделі.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4023360"/>
            <a:ext cx="5175504" cy="20574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1384" y="4251960"/>
            <a:ext cx="59436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4187952"/>
            <a:ext cx="3986784" cy="6400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MarketSpread &amp; RiskEngine</a:t>
            </a:r>
          </a:p>
          <a:p>
            <a:r>
              <a:rPr sz="1100" b="1">
                <a:solidFill>
                  <a:srgbClr val="A855F7"/>
                </a:solidFill>
              </a:rPr>
              <a:t>Эконометрикалық ИИ-талдау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4892040"/>
            <a:ext cx="4718304" cy="10515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50">
                <a:solidFill>
                  <a:srgbClr val="E2E8F0"/>
                </a:solidFill>
              </a:rPr>
              <a:t>Орбиталық вегетациялық индикаторлар мен биржалық бағалар негізінде астық нарығындағы баға шоктарын және жеткізу тәуекелдерін алдын ала бағалау.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НАРЫҚ КӨЛЕМІ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Market Opportunity — TAM / SAM / SOM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Агро-геоаналитикалық бағдарламалық жасақтама мен ғарыштық мониторинг нарығы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1005840" cy="36576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79776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4400">
                <a:solidFill>
                  <a:srgbClr val="38BDF8"/>
                </a:solidFill>
              </a:rPr>
              <a:t>$12.0B</a:t>
            </a:r>
          </a:p>
          <a:p>
            <a:r>
              <a:rPr sz="1300" b="1">
                <a:solidFill>
                  <a:srgbClr val="FFFFFF"/>
                </a:solidFill>
              </a:rPr>
              <a:t>Total Addressable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840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Жаһандық агро-геоаналитикалық БҚ және ғарыштық мониторингтік софт нарығының жалпы көлемі.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011680"/>
            <a:ext cx="1005840" cy="36576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F97316"/>
                </a:solidFill>
                <a:latin typeface="Segoe U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60320"/>
            <a:ext cx="2779776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4400">
                <a:solidFill>
                  <a:srgbClr val="F97316"/>
                </a:solidFill>
              </a:rPr>
              <a:t>$140M</a:t>
            </a:r>
          </a:p>
          <a:p>
            <a:r>
              <a:rPr sz="1300" b="1">
                <a:solidFill>
                  <a:srgbClr val="FFFFFF"/>
                </a:solidFill>
              </a:rPr>
              <a:t>Serviceable Addressable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0872" y="3840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402336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Орталық Азия мен ТМД өңірінің ғарыштық агро-мониторинг және шешім қабылдау жүйелері нарығы.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691640"/>
            <a:ext cx="3328416" cy="4297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2011680"/>
            <a:ext cx="1005840" cy="365760"/>
          </a:xfrm>
          <a:prstGeom prst="round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10B981"/>
                </a:solidFill>
                <a:latin typeface="Segoe UI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560320"/>
            <a:ext cx="2779776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4400">
                <a:solidFill>
                  <a:srgbClr val="10B981"/>
                </a:solidFill>
              </a:rPr>
              <a:t>$1.2M</a:t>
            </a:r>
          </a:p>
          <a:p>
            <a:r>
              <a:rPr sz="1300" b="1">
                <a:solidFill>
                  <a:srgbClr val="FFFFFF"/>
                </a:solidFill>
              </a:rPr>
              <a:t>Serviceable Obtainable Market (3 жыл)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3840480"/>
            <a:ext cx="2779776" cy="19050"/>
          </a:xfrm>
          <a:prstGeom prst="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4023360"/>
            <a:ext cx="2779776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Қазақстандағы 207 элеватор мен ірі астық холдингтерінің алғашқы 3 жылдағы мақсатты сегменті.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38BDF8"/>
                </a:solidFill>
                <a:latin typeface="Segoe UI"/>
              </a:rPr>
              <a:t>ҒЫЛЫМИ ВАЛИДАЦИЯ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Segoe UI"/>
              </a:rPr>
              <a:t>BackTesting: Орбиталық деректерді тексеру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Солтүстік Қазақстан облысындағы тарихи деректерге жүргізілген ретроспективті эксперимент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1188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100">
                <a:solidFill>
                  <a:srgbClr val="38BDF8"/>
                </a:solidFill>
              </a:rPr>
              <a:t>СҚО өңірі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Сынақ полигоны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691640"/>
            <a:ext cx="2468880" cy="1188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100">
                <a:solidFill>
                  <a:srgbClr val="F97316"/>
                </a:solidFill>
              </a:rPr>
              <a:t>2021 жыл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Аномальды құрғақшылық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91640"/>
            <a:ext cx="2468880" cy="1188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100">
                <a:solidFill>
                  <a:srgbClr val="10B981"/>
                </a:solidFill>
              </a:rPr>
              <a:t>0%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Data Leakage (Ақпарат ақпауы)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91640"/>
            <a:ext cx="2468880" cy="11887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100">
                <a:solidFill>
                  <a:srgbClr val="A855F7"/>
                </a:solidFill>
              </a:rPr>
              <a:t>27 күн бұрын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Ерте анықтау нәтижесі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725912" cy="28346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97316"/>
                </a:solidFill>
              </a:rPr>
              <a:t>РЕТРОСПЕКТИВТІ ЭКСПЕРИМЕНТ ТАЙМЛАЙНЫ (СҚО, 2021 ЖЫЛҒЫ МОДЕЛЬДЕУ)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94760"/>
            <a:ext cx="118872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Т - 27 КҮН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237744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Тамыр ылғалының дағдарысы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</a:rPr>
              <a:t>NASA SMAP L-band радиометриясы топырақтың тамыр тереңдігінде жасырын ылғал аномалиясын тіркеді.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4176" y="3794760"/>
            <a:ext cx="11887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Т - 14 КҮН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206240"/>
            <a:ext cx="237744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Өсімдік діңінің кебуі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</a:rPr>
              <a:t>Sentinel-1 SAR радарлық кері шашырауы дің мен топырақ беткі қабатының күрт құрғауын растады.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794760"/>
            <a:ext cx="118872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Т = 0 КҮН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206240"/>
            <a:ext cx="237744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Оптикалық сарғаю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</a:rPr>
              <a:t>Sentinel-2 оптикалық суреттерінде дақылдардың жаппай сарғаюы (NDVI құлдырауы) бірінші рет көрінді.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3794760"/>
            <a:ext cx="118872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b="1" sz="1100">
                <a:solidFill>
                  <a:srgbClr val="FFFFFF"/>
                </a:solidFill>
              </a:rPr>
              <a:t>Т + 10 КҮН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206240"/>
            <a:ext cx="237744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Ресми хабарлама &amp; Баға шогы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</a:rPr>
              <a:t>Құрғақшылық ресми түрде жарияланып, биржада астық бағасының күрт өсуі орын алды.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457200"/>
            <a:ext cx="5788152" cy="5788152"/>
          </a:xfrm>
          <a:prstGeom prst="ellipse">
            <a:avLst/>
          </a:prstGeom>
          <a:noFill/>
          <a:ln w="19050">
            <a:solidFill>
              <a:srgbClr val="19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1104" y="1097280"/>
            <a:ext cx="3657600" cy="365760"/>
          </a:xfrm>
          <a:prstGeom prst="roundRect">
            <a:avLst/>
          </a:prstGeom>
          <a:solidFill>
            <a:srgbClr val="25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b="1" sz="1100">
                <a:solidFill>
                  <a:srgbClr val="F97316"/>
                </a:solidFill>
                <a:latin typeface="Segoe UI"/>
              </a:rPr>
              <a:t>AGRICASCADE PROJECT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Назар аударғандарыңызға рақмет!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38BDF8"/>
                </a:solidFill>
              </a:rPr>
              <a:t>Ғарыштық технологиялар арқылы азық-түлік қауіпсіздігін ерте болжау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8404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36576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АВТОРЛАР: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FFFFFF"/>
                </a:solidFill>
              </a:rPr>
              <a:t>• Кәрімбай Әли
• Төлебай Рамазан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Жоба жасақтаушылары &amp; Зерттеушілер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474720"/>
            <a:ext cx="38404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6576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97316"/>
                </a:solidFill>
              </a:rPr>
              <a:t>ҒЫЛЫМИ ЖЕТЕКШІ:</a:t>
            </a:r>
          </a:p>
          <a:p>
            <a:pPr>
              <a:spcBef>
                <a:spcPts val="400"/>
              </a:spcBef>
            </a:pPr>
            <a:r>
              <a:rPr b="1" sz="1500">
                <a:solidFill>
                  <a:srgbClr val="FFFFFF"/>
                </a:solidFill>
              </a:rPr>
              <a:t>• Искакова Айжан (Искакова А.)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4A3B8"/>
                </a:solidFill>
              </a:rPr>
              <a:t>Ғылыми кеңесші &amp; Жетекші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